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57" r:id="rId4"/>
    <p:sldId id="264" r:id="rId5"/>
    <p:sldId id="259" r:id="rId6"/>
    <p:sldId id="258" r:id="rId7"/>
    <p:sldId id="266" r:id="rId8"/>
    <p:sldId id="260" r:id="rId9"/>
    <p:sldId id="267" r:id="rId10"/>
    <p:sldId id="261" r:id="rId11"/>
    <p:sldId id="268" r:id="rId12"/>
    <p:sldId id="262" r:id="rId13"/>
    <p:sldId id="270" r:id="rId14"/>
    <p:sldId id="269" r:id="rId15"/>
    <p:sldId id="271" r:id="rId16"/>
    <p:sldId id="272" r:id="rId17"/>
  </p:sldIdLst>
  <p:sldSz cx="12192000" cy="6858000"/>
  <p:notesSz cx="6858000" cy="9144000"/>
  <p:defaultTextStyle>
    <a:defPPr>
      <a:defRPr lang="sk-S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-67" y="60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Úvodná snímka">
    <p:bg>
      <p:bgPr>
        <a:solidFill>
          <a:srgbClr val="EFED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98DCBE-C898-9E7D-9A54-271CDA86E61C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915128" y="1788456"/>
            <a:ext cx="8361227" cy="2098227"/>
          </a:xfrm>
        </p:spPr>
        <p:txBody>
          <a:bodyPr anchor="b" anchorCtr="1">
            <a:noAutofit/>
          </a:bodyPr>
          <a:lstStyle>
            <a:lvl1pPr algn="ctr">
              <a:defRPr sz="7200" cap="all"/>
            </a:lvl1pPr>
          </a:lstStyle>
          <a:p>
            <a:pPr lvl="0"/>
            <a:r>
              <a:rPr lang="sk-SK"/>
              <a:t>Kliknutím upravte štýl predlohy nadpisu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2BC302-28CE-8B3D-E3DE-F756E4B7EE47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679905" y="3956279"/>
            <a:ext cx="6831674" cy="1086234"/>
          </a:xfrm>
        </p:spPr>
        <p:txBody>
          <a:bodyPr anchorCtr="1"/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</a:lstStyle>
          <a:p>
            <a:pPr lvl="0"/>
            <a:r>
              <a:rPr lang="sk-SK"/>
              <a:t>Kliknutím upravte štýl predlohy podnadpisu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71B72A-81FC-5A7F-AC3B-E3BD6FAA4BCC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>
          <a:xfrm>
            <a:off x="752862" y="6453387"/>
            <a:ext cx="1607944" cy="404612"/>
          </a:xfrm>
        </p:spPr>
        <p:txBody>
          <a:bodyPr/>
          <a:lstStyle>
            <a:lvl1pPr>
              <a:defRPr/>
            </a:lvl1pPr>
          </a:lstStyle>
          <a:p>
            <a:pPr lvl="0"/>
            <a:fld id="{2CE01CF4-796C-4004-AF3A-A3241E1689A3}" type="datetime1">
              <a:rPr lang="sk-SK"/>
              <a:pPr lvl="0"/>
              <a:t>7. 4. 2026</a:t>
            </a:fld>
            <a:endParaRPr lang="sk-S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6B235F-C8D3-79FF-1036-2A50D57BF282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>
          <a:xfrm>
            <a:off x="2584057" y="6453387"/>
            <a:ext cx="7023378" cy="404612"/>
          </a:xfrm>
        </p:spPr>
        <p:txBody>
          <a:bodyPr anchorCtr="1"/>
          <a:lstStyle>
            <a:lvl1pPr algn="ctr">
              <a:defRPr/>
            </a:lvl1pPr>
          </a:lstStyle>
          <a:p>
            <a:pPr lvl="0"/>
            <a:endParaRPr lang="sk-S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5C5A32-D315-D782-A7F9-717E0C28441F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9830686" y="6453387"/>
            <a:ext cx="1596295" cy="404612"/>
          </a:xfrm>
        </p:spPr>
        <p:txBody>
          <a:bodyPr/>
          <a:lstStyle>
            <a:lvl1pPr>
              <a:defRPr/>
            </a:lvl1pPr>
          </a:lstStyle>
          <a:p>
            <a:pPr lvl="0"/>
            <a:fld id="{DCCFAFE7-ED4E-49DC-A603-68A76CC29047}" type="slidenum">
              <a:t>‹#›</a:t>
            </a:fld>
            <a:endParaRPr lang="sk-SK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BF08685-9975-41B3-3F36-EE3AB145281A}"/>
              </a:ext>
            </a:extLst>
          </p:cNvPr>
          <p:cNvGrpSpPr/>
          <p:nvPr/>
        </p:nvGrpSpPr>
        <p:grpSpPr>
          <a:xfrm>
            <a:off x="752862" y="744467"/>
            <a:ext cx="10674111" cy="5349669"/>
            <a:chOff x="752862" y="744467"/>
            <a:chExt cx="10674111" cy="5349669"/>
          </a:xfrm>
        </p:grpSpPr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7EA099CC-3895-696E-6CDD-8D48A47AD557}"/>
                </a:ext>
              </a:extLst>
            </p:cNvPr>
            <p:cNvSpPr/>
            <p:nvPr/>
          </p:nvSpPr>
          <p:spPr>
            <a:xfrm>
              <a:off x="8151958" y="1685650"/>
              <a:ext cx="3275015" cy="4408486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10000"/>
                <a:gd name="f4" fmla="val 8761"/>
                <a:gd name="f5" fmla="val 9126"/>
                <a:gd name="f6" fmla="val 9127"/>
                <a:gd name="f7" fmla="*/ f0 1 10000"/>
                <a:gd name="f8" fmla="*/ f1 1 10000"/>
                <a:gd name="f9" fmla="+- f3 0 f2"/>
                <a:gd name="f10" fmla="*/ f9 1 10000"/>
                <a:gd name="f11" fmla="*/ f2 1 f10"/>
                <a:gd name="f12" fmla="*/ f3 1 f10"/>
                <a:gd name="f13" fmla="*/ f11 f7 1"/>
                <a:gd name="f14" fmla="*/ f12 f7 1"/>
                <a:gd name="f15" fmla="*/ f12 f8 1"/>
                <a:gd name="f16" fmla="*/ f11 f8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3" t="f16" r="f14" b="f15"/>
              <a:pathLst>
                <a:path w="10000" h="10000">
                  <a:moveTo>
                    <a:pt x="f4" y="f2"/>
                  </a:moveTo>
                  <a:lnTo>
                    <a:pt x="f3" y="f2"/>
                  </a:lnTo>
                  <a:lnTo>
                    <a:pt x="f3" y="f3"/>
                  </a:lnTo>
                  <a:lnTo>
                    <a:pt x="f2" y="f3"/>
                  </a:lnTo>
                  <a:lnTo>
                    <a:pt x="f2" y="f5"/>
                  </a:lnTo>
                  <a:lnTo>
                    <a:pt x="f4" y="f6"/>
                  </a:lnTo>
                  <a:lnTo>
                    <a:pt x="f4" y="f2"/>
                  </a:lnTo>
                  <a:close/>
                </a:path>
              </a:pathLst>
            </a:custGeom>
            <a:solidFill>
              <a:srgbClr val="191B0E"/>
            </a:solidFill>
            <a:ln cap="flat">
              <a:noFill/>
              <a:prstDash val="solid"/>
            </a:ln>
          </p:spPr>
          <p:txBody>
            <a:bodyPr vert="horz" wrap="square" lIns="0" tIns="0" rIns="0" bIns="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sk-SK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endParaRPr>
            </a:p>
          </p:txBody>
        </p:sp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9893990F-BEC6-B86E-C0B3-46096E4B5F77}"/>
                </a:ext>
              </a:extLst>
            </p:cNvPr>
            <p:cNvSpPr/>
            <p:nvPr/>
          </p:nvSpPr>
          <p:spPr>
            <a:xfrm flipH="1" flipV="1">
              <a:off x="752862" y="744467"/>
              <a:ext cx="3275664" cy="4408486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10002"/>
                <a:gd name="f4" fmla="val 10000"/>
                <a:gd name="f5" fmla="val 8763"/>
                <a:gd name="f6" fmla="val 2"/>
                <a:gd name="f7" fmla="+- 0 0 2"/>
                <a:gd name="f8" fmla="val 9698"/>
                <a:gd name="f9" fmla="val 4"/>
                <a:gd name="f10" fmla="val 9427"/>
                <a:gd name="f11" fmla="val 9125"/>
                <a:gd name="f12" fmla="val 9128"/>
                <a:gd name="f13" fmla="*/ f0 1 10002"/>
                <a:gd name="f14" fmla="*/ f1 1 10000"/>
                <a:gd name="f15" fmla="+- f4 0 f2"/>
                <a:gd name="f16" fmla="+- f3 0 f2"/>
                <a:gd name="f17" fmla="*/ f16 1 10002"/>
                <a:gd name="f18" fmla="*/ f15 1 10000"/>
                <a:gd name="f19" fmla="*/ f2 1 f17"/>
                <a:gd name="f20" fmla="*/ f3 1 f17"/>
                <a:gd name="f21" fmla="*/ f2 1 f18"/>
                <a:gd name="f22" fmla="*/ f4 1 f18"/>
                <a:gd name="f23" fmla="*/ f19 f13 1"/>
                <a:gd name="f24" fmla="*/ f20 f13 1"/>
                <a:gd name="f25" fmla="*/ f22 f14 1"/>
                <a:gd name="f26" fmla="*/ f21 f14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23" t="f26" r="f24" b="f25"/>
              <a:pathLst>
                <a:path w="10002" h="10000">
                  <a:moveTo>
                    <a:pt x="f5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6" y="f4"/>
                  </a:lnTo>
                  <a:cubicBezTo>
                    <a:pt x="f7" y="f8"/>
                    <a:pt x="f9" y="f10"/>
                    <a:pt x="f2" y="f11"/>
                  </a:cubicBezTo>
                  <a:lnTo>
                    <a:pt x="f5" y="f12"/>
                  </a:lnTo>
                  <a:lnTo>
                    <a:pt x="f5" y="f2"/>
                  </a:lnTo>
                  <a:close/>
                </a:path>
              </a:pathLst>
            </a:custGeom>
            <a:solidFill>
              <a:srgbClr val="191B0E"/>
            </a:solidFill>
            <a:ln cap="flat">
              <a:noFill/>
              <a:prstDash val="solid"/>
            </a:ln>
          </p:spPr>
          <p:txBody>
            <a:bodyPr vert="horz" wrap="square" lIns="0" tIns="0" rIns="0" bIns="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sk-SK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60049697"/>
      </p:ext>
    </p:extLst>
  </p:cSld>
  <p:clrMapOvr>
    <a:masterClrMapping/>
  </p:clrMapOvr>
  <p:transition spd="med">
    <p:pull/>
  </p:transition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29EC8-0E73-3DBB-7A9D-DEDC43894E95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sk-SK"/>
              <a:t>Kliknutím upravte štýl predlohy nadpisu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4B9771-71EC-BF8E-C0B4-380BE4DF1DBF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D300B4-2B0B-F645-9243-5D823E6E74E7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3A965714-0C75-4AE1-BC0C-2CC85DA8F817}" type="datetime1">
              <a:rPr lang="sk-SK"/>
              <a:pPr lvl="0"/>
              <a:t>7. 4. 2026</a:t>
            </a:fld>
            <a:endParaRPr lang="sk-S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5DD477-3F32-CBF5-3D78-E79AAFD05460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sk-S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C2E49D-3E68-BDBD-2264-F469462534FC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941CFD4-472F-4AB3-8B93-1F4ABA3EB4C9}" type="slidenum"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233710962"/>
      </p:ext>
    </p:extLst>
  </p:cSld>
  <p:clrMapOvr>
    <a:masterClrMapping/>
  </p:clrMapOvr>
  <p:transition spd="med">
    <p:pull/>
  </p:transition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Hlavička sekcie">
    <p:bg>
      <p:bgPr>
        <a:solidFill>
          <a:srgbClr val="191B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F130C4-93ED-D742-0229-1A6CCED9439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5023" y="1301355"/>
            <a:ext cx="9612968" cy="2852735"/>
          </a:xfrm>
        </p:spPr>
        <p:txBody>
          <a:bodyPr anchor="b"/>
          <a:lstStyle>
            <a:lvl1pPr algn="r">
              <a:defRPr sz="7200" cap="all">
                <a:solidFill>
                  <a:srgbClr val="EFEDE3"/>
                </a:solidFill>
              </a:defRPr>
            </a:lvl1pPr>
          </a:lstStyle>
          <a:p>
            <a:pPr lvl="0"/>
            <a:r>
              <a:rPr lang="sk-SK"/>
              <a:t>Kliknutím upravte štýl predlohy nadpisu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2ABAF6-11BA-086B-EFA1-C17D74FFB6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5023" y="4216325"/>
            <a:ext cx="9612968" cy="1143320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EFEDE3"/>
                </a:solidFill>
              </a:defRPr>
            </a:lvl1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C582E4-4CB8-FEE9-226B-9B216AE3C1B5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>
          <a:xfrm>
            <a:off x="738908" y="6453387"/>
            <a:ext cx="1622410" cy="404612"/>
          </a:xfrm>
        </p:spPr>
        <p:txBody>
          <a:bodyPr/>
          <a:lstStyle>
            <a:lvl1pPr>
              <a:defRPr>
                <a:solidFill>
                  <a:srgbClr val="EFEDE3"/>
                </a:solidFill>
              </a:defRPr>
            </a:lvl1pPr>
          </a:lstStyle>
          <a:p>
            <a:pPr lvl="0"/>
            <a:fld id="{8CF7E90D-9ED4-48BB-BC2A-5D4254CF533F}" type="datetime1">
              <a:rPr lang="sk-SK"/>
              <a:pPr lvl="0"/>
              <a:t>7. 4. 2026</a:t>
            </a:fld>
            <a:endParaRPr lang="sk-S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A2480E-D7DD-8D87-211D-D2348A234D6A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>
          <a:xfrm>
            <a:off x="2584313" y="6453387"/>
            <a:ext cx="7023378" cy="404612"/>
          </a:xfrm>
        </p:spPr>
        <p:txBody>
          <a:bodyPr anchorCtr="1"/>
          <a:lstStyle>
            <a:lvl1pPr algn="ctr">
              <a:defRPr>
                <a:solidFill>
                  <a:srgbClr val="EFEDE3"/>
                </a:solidFill>
              </a:defRPr>
            </a:lvl1pPr>
          </a:lstStyle>
          <a:p>
            <a:pPr lvl="0"/>
            <a:endParaRPr lang="sk-S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59F58B-FD3B-9EC4-FDE6-03E5ED3F593F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9830686" y="6453387"/>
            <a:ext cx="1596295" cy="404612"/>
          </a:xfrm>
        </p:spPr>
        <p:txBody>
          <a:bodyPr/>
          <a:lstStyle>
            <a:lvl1pPr>
              <a:defRPr>
                <a:solidFill>
                  <a:srgbClr val="EFEDE3"/>
                </a:solidFill>
              </a:defRPr>
            </a:lvl1pPr>
          </a:lstStyle>
          <a:p>
            <a:pPr lvl="0"/>
            <a:fld id="{F54B89A2-B351-4DAC-B11D-AA7A93865680}" type="slidenum">
              <a:t>‹#›</a:t>
            </a:fld>
            <a:endParaRPr lang="sk-SK"/>
          </a:p>
        </p:txBody>
      </p:sp>
      <p:sp>
        <p:nvSpPr>
          <p:cNvPr id="7" name="Freeform 6" title="Crop Mark">
            <a:extLst>
              <a:ext uri="{FF2B5EF4-FFF2-40B4-BE49-F238E27FC236}">
                <a16:creationId xmlns:a16="http://schemas.microsoft.com/office/drawing/2014/main" id="{DAB00493-9D1D-34DB-6F4B-8E49B21CC1FA}"/>
              </a:ext>
            </a:extLst>
          </p:cNvPr>
          <p:cNvSpPr/>
          <p:nvPr/>
        </p:nvSpPr>
        <p:spPr>
          <a:xfrm>
            <a:off x="8151958" y="1685650"/>
            <a:ext cx="3275015" cy="4408486"/>
          </a:xfrm>
          <a:custGeom>
            <a:avLst/>
            <a:gdLst>
              <a:gd name="f0" fmla="val w"/>
              <a:gd name="f1" fmla="val h"/>
              <a:gd name="f2" fmla="val 0"/>
              <a:gd name="f3" fmla="val 4125"/>
              <a:gd name="f4" fmla="val 5554"/>
              <a:gd name="f5" fmla="val 3614"/>
              <a:gd name="f6" fmla="val 5074"/>
              <a:gd name="f7" fmla="*/ f0 1 4125"/>
              <a:gd name="f8" fmla="*/ f1 1 5554"/>
              <a:gd name="f9" fmla="+- f4 0 f2"/>
              <a:gd name="f10" fmla="+- f3 0 f2"/>
              <a:gd name="f11" fmla="*/ f10 1 4125"/>
              <a:gd name="f12" fmla="*/ f9 1 5554"/>
              <a:gd name="f13" fmla="*/ 0 1 f11"/>
              <a:gd name="f14" fmla="*/ f3 1 f11"/>
              <a:gd name="f15" fmla="*/ 0 1 f12"/>
              <a:gd name="f16" fmla="*/ f4 1 f12"/>
              <a:gd name="f17" fmla="*/ f13 f7 1"/>
              <a:gd name="f18" fmla="*/ f14 f7 1"/>
              <a:gd name="f19" fmla="*/ f16 f8 1"/>
              <a:gd name="f20" fmla="*/ f15 f8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7" t="f20" r="f18" b="f19"/>
            <a:pathLst>
              <a:path w="4125" h="5554">
                <a:moveTo>
                  <a:pt x="f5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6"/>
                </a:lnTo>
                <a:lnTo>
                  <a:pt x="f5" y="f6"/>
                </a:lnTo>
                <a:lnTo>
                  <a:pt x="f5" y="f2"/>
                </a:lnTo>
                <a:close/>
              </a:path>
            </a:pathLst>
          </a:custGeom>
          <a:solidFill>
            <a:srgbClr val="EFEDE3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sk-SK" sz="18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395550971"/>
      </p:ext>
    </p:extLst>
  </p:cSld>
  <p:clrMapOvr>
    <a:masterClrMapping/>
  </p:clrMapOvr>
  <p:transition spd="med">
    <p:pull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2C8A2-E221-BA9C-A6A9-F07E355ACC7B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sk-SK"/>
              <a:t>Kliknutím upravte štýl predlohy nadpisu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F9A867-BABB-5AE9-E193-A16A904D4A5B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1371600" y="2286000"/>
            <a:ext cx="4447787" cy="358140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D8224E-7B15-8DEA-C7AB-388F29A04429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6525405" y="2286000"/>
            <a:ext cx="4447787" cy="358140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81ABCF-C4B3-E5B1-0D00-46914B1714CD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413FD96-B2FD-4F7E-A6B2-850F1CFEA391}" type="datetime1">
              <a:rPr lang="sk-SK"/>
              <a:pPr lvl="0"/>
              <a:t>7. 4. 2026</a:t>
            </a:fld>
            <a:endParaRPr lang="sk-S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2AA8E4-260C-E7CF-193B-46057F034D4B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sk-S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8F062E-02C0-2222-E4A6-FE5CEB0650DF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357E20D-351E-4A14-8751-9A000290B58E}" type="slidenum"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785071179"/>
      </p:ext>
    </p:extLst>
  </p:cSld>
  <p:clrMapOvr>
    <a:masterClrMapping/>
  </p:clrMapOvr>
  <p:transition spd="med">
    <p:pull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9ACA1-0C5E-93EB-CDAE-5CA2E5C4D901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sk-SK"/>
              <a:t>Kliknutím upravte štýl predlohy nadpisu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C4F309-81E6-699A-832D-510C7B5054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371600" y="2340864"/>
            <a:ext cx="4443983" cy="823910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F0125B-7BA9-E766-C4EE-A262842A7987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1371600" y="3305208"/>
            <a:ext cx="4443983" cy="2562194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3A9C1F9-96CC-ECFD-B868-EB30C6A676C8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6525012" y="2340864"/>
            <a:ext cx="4443983" cy="823910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C9E7C8F-0B26-9A25-0570-438A6EA3F9C5}"/>
              </a:ext>
            </a:extLst>
          </p:cNvPr>
          <p:cNvSpPr txBox="1">
            <a:spLocks noGrp="1"/>
          </p:cNvSpPr>
          <p:nvPr>
            <p:ph idx="4"/>
          </p:nvPr>
        </p:nvSpPr>
        <p:spPr>
          <a:xfrm>
            <a:off x="6525012" y="3305208"/>
            <a:ext cx="4443983" cy="2562194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1ED8CF4-9138-154C-8A66-ABF444C36A71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D0A8508-A56D-4659-B51D-B4A5488486F8}" type="datetime1">
              <a:rPr lang="sk-SK"/>
              <a:pPr lvl="0"/>
              <a:t>7. 4. 2026</a:t>
            </a:fld>
            <a:endParaRPr lang="sk-S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04A9F98-9F91-3991-4916-8D74CF769CEC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sk-S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2EC373E-D4F7-C852-52BC-CBC053D82774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CABD242-CE06-4824-82AD-C3771BDD3462}" type="slidenum"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804700918"/>
      </p:ext>
    </p:extLst>
  </p:cSld>
  <p:clrMapOvr>
    <a:masterClrMapping/>
  </p:clrMapOvr>
  <p:transition spd="med">
    <p:pull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Len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6B84FB-44CB-C08A-4508-53C1D4DF6F0D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sk-SK"/>
              <a:t>Kliknutím upravte štýl predlohy nadpisu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18B6D6-E22E-DD63-426B-5914EF27E28A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D9B3DB9-EA55-41F8-91F0-3DF9CA493D47}" type="datetime1">
              <a:rPr lang="sk-SK"/>
              <a:pPr lvl="0"/>
              <a:t>7. 4. 2026</a:t>
            </a:fld>
            <a:endParaRPr lang="sk-S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D01B57-6112-EFC4-3633-219D7D5DC75C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sk-S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9482C4-C80F-94DD-73E9-D77CD73AC43F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0CCD919-C8D2-45AB-B89D-EE1EF9FF2625}" type="slidenum"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631085000"/>
      </p:ext>
    </p:extLst>
  </p:cSld>
  <p:clrMapOvr>
    <a:masterClrMapping/>
  </p:clrMapOvr>
  <p:transition spd="med">
    <p:pull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E330B91-ACA0-C0F6-3790-AB451FBE891D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AD363C8-6DCC-4587-BB28-8CBC52368D84}" type="datetime1">
              <a:rPr lang="sk-SK"/>
              <a:pPr lvl="0"/>
              <a:t>7. 4. 2026</a:t>
            </a:fld>
            <a:endParaRPr lang="sk-S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2C41C7-B188-0191-F95D-E67C9E9346C3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sk-S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81AEE9-27E4-431D-93B7-06912D583EE5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D85386B9-5706-42C8-A769-EE2BE065F723}" type="slidenum"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33838222"/>
      </p:ext>
    </p:extLst>
  </p:cSld>
  <p:clrMapOvr>
    <a:masterClrMapping/>
  </p:clrMapOvr>
  <p:transition spd="med">
    <p:pull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Obsah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 title="Background Shape">
            <a:extLst>
              <a:ext uri="{FF2B5EF4-FFF2-40B4-BE49-F238E27FC236}">
                <a16:creationId xmlns:a16="http://schemas.microsoft.com/office/drawing/2014/main" id="{8D447154-0921-1BFA-9D64-AF706540DA50}"/>
              </a:ext>
            </a:extLst>
          </p:cNvPr>
          <p:cNvSpPr/>
          <p:nvPr/>
        </p:nvSpPr>
        <p:spPr>
          <a:xfrm>
            <a:off x="0" y="374"/>
            <a:ext cx="5303520" cy="6857625"/>
          </a:xfrm>
          <a:prstGeom prst="rect">
            <a:avLst/>
          </a:prstGeom>
          <a:solidFill>
            <a:srgbClr val="8C8D86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sk-SK" sz="18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7192378-67BD-4DFA-033F-711757F5793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3903" y="685800"/>
            <a:ext cx="3855723" cy="2157883"/>
          </a:xfrm>
        </p:spPr>
        <p:txBody>
          <a:bodyPr>
            <a:noAutofit/>
          </a:bodyPr>
          <a:lstStyle>
            <a:lvl1pPr>
              <a:lnSpc>
                <a:spcPct val="84000"/>
              </a:lnSpc>
              <a:defRPr sz="4800"/>
            </a:lvl1pPr>
          </a:lstStyle>
          <a:p>
            <a:pPr lvl="0"/>
            <a:r>
              <a:rPr lang="sk-SK"/>
              <a:t>Kliknutím upravte štýl predlohy nadpisu</a:t>
            </a:r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C33F561-51D6-1A10-7C76-8F90FB9450A1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6256023" y="685800"/>
            <a:ext cx="5212080" cy="5175247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7973F090-B53D-470B-F862-612843E47A31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723903" y="2856347"/>
            <a:ext cx="3855723" cy="3011055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7FEF0A06-C36E-2616-DC79-E00F57B4EDE3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>
          <a:xfrm>
            <a:off x="723903" y="6453387"/>
            <a:ext cx="1204575" cy="404612"/>
          </a:xfrm>
        </p:spPr>
        <p:txBody>
          <a:bodyPr/>
          <a:lstStyle>
            <a:lvl1pPr>
              <a:defRPr/>
            </a:lvl1pPr>
          </a:lstStyle>
          <a:p>
            <a:pPr lvl="0"/>
            <a:fld id="{899BAE5B-9D9B-420D-AB69-24742A71448F}" type="datetime1">
              <a:rPr lang="sk-SK"/>
              <a:pPr lvl="0"/>
              <a:t>7. 4. 2026</a:t>
            </a:fld>
            <a:endParaRPr lang="sk-SK"/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110458C6-D237-DC32-52D5-A30CAE5730C6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>
          <a:xfrm>
            <a:off x="2205944" y="6453387"/>
            <a:ext cx="2373672" cy="404612"/>
          </a:xfrm>
        </p:spPr>
        <p:txBody>
          <a:bodyPr/>
          <a:lstStyle>
            <a:lvl1pPr>
              <a:defRPr/>
            </a:lvl1pPr>
          </a:lstStyle>
          <a:p>
            <a:pPr lvl="0"/>
            <a:endParaRPr lang="sk-SK"/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CA5D450E-A5CB-C21F-2190-A38BD9A7A6B6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9883136" y="6453387"/>
            <a:ext cx="1596295" cy="404612"/>
          </a:xfrm>
        </p:spPr>
        <p:txBody>
          <a:bodyPr/>
          <a:lstStyle>
            <a:lvl1pPr>
              <a:defRPr/>
            </a:lvl1pPr>
          </a:lstStyle>
          <a:p>
            <a:pPr lvl="0"/>
            <a:fld id="{E115CA3A-6FD7-4779-9DFF-CACD58FBC976}" type="slidenum">
              <a:t>‹#›</a:t>
            </a:fld>
            <a:endParaRPr lang="sk-SK"/>
          </a:p>
        </p:txBody>
      </p:sp>
      <p:sp>
        <p:nvSpPr>
          <p:cNvPr id="9" name="Rectangle 8" title="Divider Bar">
            <a:extLst>
              <a:ext uri="{FF2B5EF4-FFF2-40B4-BE49-F238E27FC236}">
                <a16:creationId xmlns:a16="http://schemas.microsoft.com/office/drawing/2014/main" id="{FC1160A5-FBE5-2D4E-4AB2-9982D1FF555E}"/>
              </a:ext>
            </a:extLst>
          </p:cNvPr>
          <p:cNvSpPr/>
          <p:nvPr/>
        </p:nvSpPr>
        <p:spPr>
          <a:xfrm>
            <a:off x="5303520" y="374"/>
            <a:ext cx="228600" cy="6858000"/>
          </a:xfrm>
          <a:prstGeom prst="rect">
            <a:avLst/>
          </a:prstGeom>
          <a:solidFill>
            <a:srgbClr val="191B0E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sk-SK" sz="18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2611158468"/>
      </p:ext>
    </p:extLst>
  </p:cSld>
  <p:clrMapOvr>
    <a:masterClrMapping/>
  </p:clrMapOvr>
  <p:transition spd="med">
    <p:pull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Obrázok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 title="Background Shape">
            <a:extLst>
              <a:ext uri="{FF2B5EF4-FFF2-40B4-BE49-F238E27FC236}">
                <a16:creationId xmlns:a16="http://schemas.microsoft.com/office/drawing/2014/main" id="{47775CE0-8590-C0E2-ABA8-1BCD5676B816}"/>
              </a:ext>
            </a:extLst>
          </p:cNvPr>
          <p:cNvSpPr/>
          <p:nvPr/>
        </p:nvSpPr>
        <p:spPr>
          <a:xfrm>
            <a:off x="0" y="374"/>
            <a:ext cx="5303520" cy="6857625"/>
          </a:xfrm>
          <a:prstGeom prst="rect">
            <a:avLst/>
          </a:prstGeom>
          <a:solidFill>
            <a:srgbClr val="8C8D86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sk-SK" sz="18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521CADF-E772-5AD3-A0E9-60D718A6B08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3903" y="685800"/>
            <a:ext cx="3855723" cy="2157883"/>
          </a:xfrm>
        </p:spPr>
        <p:txBody>
          <a:bodyPr/>
          <a:lstStyle>
            <a:lvl1pPr>
              <a:lnSpc>
                <a:spcPct val="84000"/>
              </a:lnSpc>
              <a:defRPr sz="4800"/>
            </a:lvl1pPr>
          </a:lstStyle>
          <a:p>
            <a:pPr lvl="0"/>
            <a:r>
              <a:rPr lang="sk-SK"/>
              <a:t>Kliknutím upravte štýl predlohy nadpisu</a:t>
            </a:r>
            <a:endParaRPr lang="en-US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963BEACB-3E70-402A-9B43-F5DA57875A52}"/>
              </a:ext>
            </a:extLst>
          </p:cNvPr>
          <p:cNvSpPr txBox="1">
            <a:spLocks noGrp="1"/>
          </p:cNvSpPr>
          <p:nvPr>
            <p:ph type="pic" idx="1"/>
          </p:nvPr>
        </p:nvSpPr>
        <p:spPr>
          <a:xfrm>
            <a:off x="5532120" y="0"/>
            <a:ext cx="6659876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sk-SK"/>
              <a:t>Kliknutím na ikonu pridáte obrázok</a:t>
            </a:r>
            <a:endParaRPr lang="en-US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0BBDC9CB-95D8-3487-AA56-DB1699557083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723903" y="2855963"/>
            <a:ext cx="3855723" cy="3011430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3F09C85E-F7E9-CD1D-91E8-9B6552ED4F61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>
          <a:xfrm>
            <a:off x="723903" y="6453387"/>
            <a:ext cx="1204575" cy="404612"/>
          </a:xfrm>
        </p:spPr>
        <p:txBody>
          <a:bodyPr/>
          <a:lstStyle>
            <a:lvl1pPr>
              <a:defRPr/>
            </a:lvl1pPr>
          </a:lstStyle>
          <a:p>
            <a:pPr lvl="0"/>
            <a:fld id="{DD191E8B-02D5-4926-B66E-FD4361104C9F}" type="datetime1">
              <a:rPr lang="sk-SK"/>
              <a:pPr lvl="0"/>
              <a:t>7. 4. 2026</a:t>
            </a:fld>
            <a:endParaRPr lang="sk-SK"/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B3D23C07-7EE1-AC8C-DF7C-63E8FFA78831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>
          <a:xfrm>
            <a:off x="2205944" y="6453387"/>
            <a:ext cx="2373672" cy="404612"/>
          </a:xfrm>
        </p:spPr>
        <p:txBody>
          <a:bodyPr/>
          <a:lstStyle>
            <a:lvl1pPr>
              <a:defRPr/>
            </a:lvl1pPr>
          </a:lstStyle>
          <a:p>
            <a:pPr lvl="0"/>
            <a:endParaRPr lang="sk-SK"/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91D1CCA1-90A9-AC8C-AB84-6DD0AF9502F4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9883136" y="6453387"/>
            <a:ext cx="1596295" cy="404612"/>
          </a:xfrm>
        </p:spPr>
        <p:txBody>
          <a:bodyPr/>
          <a:lstStyle>
            <a:lvl1pPr>
              <a:defRPr/>
            </a:lvl1pPr>
          </a:lstStyle>
          <a:p>
            <a:pPr lvl="0"/>
            <a:fld id="{7237CA34-3085-4F06-9806-0CEB31A6566E}" type="slidenum">
              <a:t>‹#›</a:t>
            </a:fld>
            <a:endParaRPr lang="sk-SK"/>
          </a:p>
        </p:txBody>
      </p:sp>
      <p:sp>
        <p:nvSpPr>
          <p:cNvPr id="9" name="Rectangle 8" title="Divider Bar">
            <a:extLst>
              <a:ext uri="{FF2B5EF4-FFF2-40B4-BE49-F238E27FC236}">
                <a16:creationId xmlns:a16="http://schemas.microsoft.com/office/drawing/2014/main" id="{D321A5B1-6BCF-B539-410F-D8644872F005}"/>
              </a:ext>
            </a:extLst>
          </p:cNvPr>
          <p:cNvSpPr/>
          <p:nvPr/>
        </p:nvSpPr>
        <p:spPr>
          <a:xfrm>
            <a:off x="5303520" y="374"/>
            <a:ext cx="228600" cy="6858000"/>
          </a:xfrm>
          <a:prstGeom prst="rect">
            <a:avLst/>
          </a:prstGeom>
          <a:solidFill>
            <a:srgbClr val="191B0E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sk-SK" sz="18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2526483821"/>
      </p:ext>
    </p:extLst>
  </p:cSld>
  <p:clrMapOvr>
    <a:masterClrMapping/>
  </p:clrMapOvr>
  <p:transition spd="med">
    <p:pull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z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8D8D3-EC9A-6554-8D96-98C8CD2521AF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sk-SK"/>
              <a:t>Kliknutím upravte štýl predlohy nadpisu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F818AA-F406-9FE1-64A2-7A99B0F62DDF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>
          <a:xfrm>
            <a:off x="1371600" y="2295528"/>
            <a:ext cx="9601200" cy="3571874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CC0BCC-4413-30E5-3362-FF9655FE5ECE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BD00EC2F-3405-4557-ACDB-5142CA4C3EC4}" type="datetime1">
              <a:rPr lang="sk-SK"/>
              <a:pPr lvl="0"/>
              <a:t>7. 4. 2026</a:t>
            </a:fld>
            <a:endParaRPr lang="sk-S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B35EEB-9EC4-D1F2-C934-0C9C9D71F0BB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sk-S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94830B-3D00-5FE4-92FE-0A05AF532C6F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BA14343-8FB0-49A2-8EB9-5DA23734E308}" type="slidenum"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080372831"/>
      </p:ext>
    </p:extLst>
  </p:cSld>
  <p:clrMapOvr>
    <a:masterClrMapping/>
  </p:clrMapOvr>
  <p:transition spd="med">
    <p:pull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Z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E3D4710-C697-4D5A-6B08-FA99EF7A7B23}"/>
              </a:ext>
            </a:extLst>
          </p:cNvPr>
          <p:cNvSpPr txBox="1">
            <a:spLocks noGrp="1"/>
          </p:cNvSpPr>
          <p:nvPr>
            <p:ph type="title" orient="vert"/>
          </p:nvPr>
        </p:nvSpPr>
        <p:spPr>
          <a:xfrm>
            <a:off x="9596563" y="624160"/>
            <a:ext cx="1565763" cy="5243242"/>
          </a:xfrm>
        </p:spPr>
        <p:txBody>
          <a:bodyPr vert="eaVert"/>
          <a:lstStyle>
            <a:lvl1pPr>
              <a:defRPr/>
            </a:lvl1pPr>
          </a:lstStyle>
          <a:p>
            <a:pPr lvl="0"/>
            <a:r>
              <a:rPr lang="sk-SK"/>
              <a:t>Kliknutím upravte štýl predlohy nadpisu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0BCE23-DB65-0378-5F4E-8149E9D516E9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>
          <a:xfrm>
            <a:off x="1371600" y="624160"/>
            <a:ext cx="8179637" cy="5243242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728BE3-9E8A-F9C5-694F-FBB311175270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0511035A-3827-4EB0-B07C-54483A230FC4}" type="datetime1">
              <a:rPr lang="sk-SK"/>
              <a:pPr lvl="0"/>
              <a:t>7. 4. 2026</a:t>
            </a:fld>
            <a:endParaRPr lang="sk-S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2C01F9-4214-3BD1-EB20-1330B955FD5B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sk-S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26045B-0E23-0A1A-94A5-A678D9B2D856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D2E11224-A353-45E7-8EC7-54A6C55016E2}" type="slidenum"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988614053"/>
      </p:ext>
    </p:extLst>
  </p:cSld>
  <p:clrMapOvr>
    <a:masterClrMapping/>
  </p:clrMapOvr>
  <p:transition spd="med">
    <p:pull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D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62F0B8-4BD2-4E72-6654-5C9C4E5E36B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lvl="0"/>
            <a:r>
              <a:rPr lang="sk-SK"/>
              <a:t>Kliknutím upravte štýl predlohy nadpisu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E182D7-FCDA-484C-8AA9-EC09BD76246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BBA514-B793-DC98-BAD2-43079489791D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1390646" y="6453387"/>
            <a:ext cx="1204575" cy="40461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sk-SK" sz="1200" b="0" i="0" u="none" strike="noStrike" kern="1200" cap="none" spc="0" baseline="0">
                <a:solidFill>
                  <a:srgbClr val="191B0E"/>
                </a:solidFill>
                <a:uFillTx/>
                <a:latin typeface="Franklin Gothic Book"/>
              </a:defRPr>
            </a:lvl1pPr>
          </a:lstStyle>
          <a:p>
            <a:pPr lvl="0"/>
            <a:fld id="{57F055B4-7D12-46DD-AEEA-11DB8D18C158}" type="datetime1">
              <a:rPr lang="sk-SK"/>
              <a:pPr lvl="0"/>
              <a:t>7. 4. 2026</a:t>
            </a:fld>
            <a:endParaRPr lang="sk-S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A2DA23-85DC-5AC5-0C8C-59F6174BEBF0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2893563" y="6453387"/>
            <a:ext cx="6280830" cy="40461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sk-SK" sz="1200" b="0" i="0" u="none" strike="noStrike" kern="1200" cap="none" spc="0" baseline="0">
                <a:solidFill>
                  <a:srgbClr val="191B0E"/>
                </a:solidFill>
                <a:uFillTx/>
                <a:latin typeface="Franklin Gothic Book"/>
              </a:defRPr>
            </a:lvl1pPr>
          </a:lstStyle>
          <a:p>
            <a:pPr lvl="0"/>
            <a:endParaRPr lang="sk-S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A55555-6E94-BB26-CA3F-BA55D21F1D1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9472735" y="6453387"/>
            <a:ext cx="1596295" cy="40461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sk-SK" sz="1200" b="0" i="0" u="none" strike="noStrike" kern="1200" cap="none" spc="0" baseline="0">
                <a:solidFill>
                  <a:srgbClr val="191B0E"/>
                </a:solidFill>
                <a:uFillTx/>
                <a:latin typeface="Franklin Gothic Book"/>
              </a:defRPr>
            </a:lvl1pPr>
          </a:lstStyle>
          <a:p>
            <a:pPr lvl="0"/>
            <a:fld id="{CE989B65-A55F-4BF4-9C83-891B0F70859D}" type="slidenum">
              <a:t>‹#›</a:t>
            </a:fld>
            <a:endParaRPr lang="sk-SK"/>
          </a:p>
        </p:txBody>
      </p:sp>
      <p:sp>
        <p:nvSpPr>
          <p:cNvPr id="7" name="Rectangle 8" title="Side bar">
            <a:extLst>
              <a:ext uri="{FF2B5EF4-FFF2-40B4-BE49-F238E27FC236}">
                <a16:creationId xmlns:a16="http://schemas.microsoft.com/office/drawing/2014/main" id="{DB72D22B-2028-1FF9-EC7C-C09AF9BAF556}"/>
              </a:ext>
            </a:extLst>
          </p:cNvPr>
          <p:cNvSpPr/>
          <p:nvPr/>
        </p:nvSpPr>
        <p:spPr>
          <a:xfrm>
            <a:off x="478094" y="374"/>
            <a:ext cx="228600" cy="6858000"/>
          </a:xfrm>
          <a:prstGeom prst="rect">
            <a:avLst/>
          </a:prstGeom>
          <a:solidFill>
            <a:srgbClr val="191B0E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sk-SK" sz="18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>
    <p:pull/>
  </p:transition>
  <p:txStyles>
    <p:titleStyle>
      <a:lvl1pPr marL="0" marR="0" lvl="0" indent="0" algn="l" defTabSz="914400" rtl="0" fontAlgn="auto" hangingPunct="1">
        <a:lnSpc>
          <a:spcPct val="89000"/>
        </a:lnSpc>
        <a:spcBef>
          <a:spcPts val="0"/>
        </a:spcBef>
        <a:spcAft>
          <a:spcPts val="0"/>
        </a:spcAft>
        <a:buNone/>
        <a:tabLst/>
        <a:defRPr lang="sk-SK" sz="4400" b="0" i="0" u="none" strike="noStrike" kern="1200" cap="none" spc="0" baseline="0">
          <a:solidFill>
            <a:srgbClr val="191B0E"/>
          </a:solidFill>
          <a:uFillTx/>
          <a:latin typeface="Franklin Gothic Book"/>
        </a:defRPr>
      </a:lvl1pPr>
    </p:titleStyle>
    <p:bodyStyle>
      <a:lvl1pPr marL="384048" marR="0" lvl="0" indent="-384048" algn="l" defTabSz="914400" rtl="0" fontAlgn="auto" hangingPunct="1">
        <a:lnSpc>
          <a:spcPct val="94000"/>
        </a:lnSpc>
        <a:spcBef>
          <a:spcPts val="1000"/>
        </a:spcBef>
        <a:spcAft>
          <a:spcPts val="200"/>
        </a:spcAft>
        <a:buSzPct val="100000"/>
        <a:buFont typeface="Franklin Gothic Book" pitchFamily="34"/>
        <a:buChar char="■"/>
        <a:tabLst/>
        <a:defRPr lang="sk-SK" sz="2000" b="0" i="0" u="none" strike="noStrike" kern="1200" cap="none" spc="0" baseline="0">
          <a:solidFill>
            <a:srgbClr val="191B0E"/>
          </a:solidFill>
          <a:uFillTx/>
          <a:latin typeface="Franklin Gothic Book"/>
        </a:defRPr>
      </a:lvl1pPr>
      <a:lvl2pPr marL="914400" marR="0" lvl="1" indent="-384048" algn="l" defTabSz="914400" rtl="0" fontAlgn="auto" hangingPunct="1">
        <a:lnSpc>
          <a:spcPct val="94000"/>
        </a:lnSpc>
        <a:spcBef>
          <a:spcPts val="500"/>
        </a:spcBef>
        <a:spcAft>
          <a:spcPts val="200"/>
        </a:spcAft>
        <a:buSzPct val="100000"/>
        <a:buFont typeface="Franklin Gothic Book" pitchFamily="34"/>
        <a:buChar char="–"/>
        <a:tabLst/>
        <a:defRPr lang="sk-SK" sz="2000" b="0" i="1" u="none" strike="noStrike" kern="1200" cap="none" spc="0" baseline="0">
          <a:solidFill>
            <a:srgbClr val="191B0E"/>
          </a:solidFill>
          <a:uFillTx/>
          <a:latin typeface="Franklin Gothic Book"/>
        </a:defRPr>
      </a:lvl2pPr>
      <a:lvl3pPr marL="1371600" marR="0" lvl="2" indent="-384048" algn="l" defTabSz="914400" rtl="0" fontAlgn="auto" hangingPunct="1">
        <a:lnSpc>
          <a:spcPct val="94000"/>
        </a:lnSpc>
        <a:spcBef>
          <a:spcPts val="500"/>
        </a:spcBef>
        <a:spcAft>
          <a:spcPts val="200"/>
        </a:spcAft>
        <a:buSzPct val="100000"/>
        <a:buFont typeface="Franklin Gothic Book" pitchFamily="34"/>
        <a:buChar char="■"/>
        <a:tabLst/>
        <a:defRPr lang="sk-SK" sz="1800" b="0" i="0" u="none" strike="noStrike" kern="1200" cap="none" spc="0" baseline="0">
          <a:solidFill>
            <a:srgbClr val="191B0E"/>
          </a:solidFill>
          <a:uFillTx/>
          <a:latin typeface="Franklin Gothic Book"/>
        </a:defRPr>
      </a:lvl3pPr>
      <a:lvl4pPr marL="1828800" marR="0" lvl="3" indent="-384048" algn="l" defTabSz="914400" rtl="0" fontAlgn="auto" hangingPunct="1">
        <a:lnSpc>
          <a:spcPct val="94000"/>
        </a:lnSpc>
        <a:spcBef>
          <a:spcPts val="500"/>
        </a:spcBef>
        <a:spcAft>
          <a:spcPts val="200"/>
        </a:spcAft>
        <a:buSzPct val="100000"/>
        <a:buFont typeface="Franklin Gothic Book" pitchFamily="34"/>
        <a:buChar char="–"/>
        <a:tabLst/>
        <a:defRPr lang="sk-SK" sz="1800" b="0" i="1" u="none" strike="noStrike" kern="1200" cap="none" spc="0" baseline="0">
          <a:solidFill>
            <a:srgbClr val="191B0E"/>
          </a:solidFill>
          <a:uFillTx/>
          <a:latin typeface="Franklin Gothic Book"/>
        </a:defRPr>
      </a:lvl4pPr>
      <a:lvl5pPr marL="2286000" marR="0" lvl="4" indent="-384048" algn="l" defTabSz="914400" rtl="0" fontAlgn="auto" hangingPunct="1">
        <a:lnSpc>
          <a:spcPct val="94000"/>
        </a:lnSpc>
        <a:spcBef>
          <a:spcPts val="500"/>
        </a:spcBef>
        <a:spcAft>
          <a:spcPts val="200"/>
        </a:spcAft>
        <a:buSzPct val="100000"/>
        <a:buFont typeface="Franklin Gothic Book" pitchFamily="34"/>
        <a:buChar char="■"/>
        <a:tabLst/>
        <a:defRPr lang="sk-SK" sz="1600" b="0" i="0" u="none" strike="noStrike" kern="1200" cap="none" spc="0" baseline="0">
          <a:solidFill>
            <a:srgbClr val="191B0E"/>
          </a:solidFill>
          <a:uFillTx/>
          <a:latin typeface="Franklin Gothic Book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k-S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155CF4C-371D-A4DA-B93F-5D1F8DC581B4}"/>
              </a:ext>
            </a:extLst>
          </p:cNvPr>
          <p:cNvSpPr txBox="1">
            <a:spLocks noGrp="1"/>
          </p:cNvSpPr>
          <p:nvPr>
            <p:ph type="ctrTitle"/>
          </p:nvPr>
        </p:nvSpPr>
        <p:spPr/>
        <p:txBody>
          <a:bodyPr/>
          <a:lstStyle/>
          <a:p>
            <a:pPr lvl="0"/>
            <a:r>
              <a:rPr lang="sk-SK"/>
              <a:t>Canny detector hrán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4AE2EDD0-C5E8-38A8-5323-91B4C73D257F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lvl="0"/>
            <a:r>
              <a:rPr lang="sk-SK"/>
              <a:t>Dominika Kormaníková</a:t>
            </a:r>
          </a:p>
          <a:p>
            <a:pPr lvl="0"/>
            <a:r>
              <a:rPr lang="sk-SK"/>
              <a:t>Jakub Maslen</a:t>
            </a:r>
          </a:p>
        </p:txBody>
      </p:sp>
    </p:spTree>
  </p:cSld>
  <p:clrMapOvr>
    <a:masterClrMapping/>
  </p:clrMapOvr>
  <p:transition spd="med">
    <p:pull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Zástupný objekt pre obsah 4">
            <a:extLst>
              <a:ext uri="{FF2B5EF4-FFF2-40B4-BE49-F238E27FC236}">
                <a16:creationId xmlns:a16="http://schemas.microsoft.com/office/drawing/2014/main" id="{50774086-64B7-B60F-4EAF-A7ED6DDA1D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31279" t="7077" r="28987" b="7698"/>
          <a:stretch>
            <a:fillRect/>
          </a:stretch>
        </p:blipFill>
        <p:spPr>
          <a:xfrm>
            <a:off x="3009903" y="179688"/>
            <a:ext cx="6172200" cy="6498613"/>
          </a:xfrm>
        </p:spPr>
      </p:pic>
    </p:spTree>
  </p:cSld>
  <p:clrMapOvr>
    <a:masterClrMapping/>
  </p:clrMapOvr>
  <p:transition spd="med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058008C-A54C-0778-AA58-9392492631B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576794"/>
            <a:ext cx="10515600" cy="1325559"/>
          </a:xfrm>
        </p:spPr>
        <p:txBody>
          <a:bodyPr/>
          <a:lstStyle/>
          <a:p>
            <a:pPr lvl="0"/>
            <a:r>
              <a:rPr lang="sk-SK"/>
              <a:t>Gaussovo filtrovanie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Zástupný objekt pre obsah 2">
                <a:extLst>
                  <a:ext uri="{FF2B5EF4-FFF2-40B4-BE49-F238E27FC236}">
                    <a16:creationId xmlns:a16="http://schemas.microsoft.com/office/drawing/2014/main" id="{1BC8D62F-4A44-A6BA-6483-088F5896F92D}"/>
                  </a:ext>
                </a:extLst>
              </p:cNvPr>
              <p:cNvSpPr txBox="1">
                <a:spLocks noGrp="1"/>
              </p:cNvSpPr>
              <p:nvPr>
                <p:ph idx="1"/>
              </p:nvPr>
            </p:nvSpPr>
            <p:spPr>
              <a:xfrm>
                <a:off x="838203" y="2265892"/>
                <a:ext cx="10515600" cy="3127376"/>
              </a:xfrm>
            </p:spPr>
            <p:txBody>
              <a:bodyPr/>
              <a:lstStyle/>
              <a:p>
                <a:pPr lvl="0">
                  <a:lnSpc>
                    <a:spcPct val="80000"/>
                  </a:lnSpc>
                </a:pPr>
                <a:r>
                  <a:rPr lang="sk-SK" sz="2600"/>
                  <a:t>odstránenie vysokofrekvenčnému šumu pred samotnou detekciou hrán</a:t>
                </a:r>
              </a:p>
              <a:p>
                <a:pPr lvl="0">
                  <a:lnSpc>
                    <a:spcPct val="80000"/>
                  </a:lnSpc>
                </a:pPr>
                <a:r>
                  <a:rPr lang="sk-SK" sz="2600"/>
                  <a:t>konvolúcia obrazu s Gaussovým jadrom</a:t>
                </a:r>
              </a:p>
              <a:p>
                <a:pPr marL="0" lvl="0" indent="0">
                  <a:lnSpc>
                    <a:spcPct val="80000"/>
                  </a:lnSpc>
                  <a:buNone/>
                </a:pPr>
                <a:endParaRPr lang="sk-SK" i="1">
                  <a:latin typeface="Cambria Math" pitchFamily="18"/>
                </a:endParaRPr>
              </a:p>
              <a:p>
                <a:pPr marL="0" lvl="0" indent="0">
                  <a:lnSpc>
                    <a:spcPct val="8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sk-SK" i="1"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sk-SK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sk-SK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sk-SK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sk-SK">
                              <a:latin typeface="Cambria Math" panose="02040503050406030204" pitchFamily="18" charset="0"/>
                            </a:rPr>
                            <m:t>16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sk-SK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sk-SK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sk-SK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sk-SK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sk-SK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sk-SK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sk-SK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sk-SK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sk-SK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sk-SK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sk-SK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sk-SK" sz="2600"/>
              </a:p>
              <a:p>
                <a:pPr lvl="0">
                  <a:lnSpc>
                    <a:spcPct val="80000"/>
                  </a:lnSpc>
                </a:pPr>
                <a:endParaRPr lang="sk-SK" sz="2600"/>
              </a:p>
              <a:p>
                <a:pPr lvl="0">
                  <a:lnSpc>
                    <a:spcPct val="80000"/>
                  </a:lnSpc>
                </a:pPr>
                <a:r>
                  <a:rPr lang="sk-SK" sz="2600"/>
                  <a:t>funkcia konvolúcie zabezpečuje prechod tohto jadra cez každý pixel</a:t>
                </a:r>
              </a:p>
            </p:txBody>
          </p:sp>
        </mc:Choice>
        <mc:Fallback xmlns="">
          <p:sp>
            <p:nvSpPr>
              <p:cNvPr id="3" name="Zástupný objekt pre obsah 2">
                <a:extLst>
                  <a:ext uri="{FF2B5EF4-FFF2-40B4-BE49-F238E27FC236}">
                    <a16:creationId xmlns:a16="http://schemas.microsoft.com/office/drawing/2014/main" id="{1BC8D62F-4A44-A6BA-6483-088F5896F92D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3" y="2265892"/>
                <a:ext cx="10515600" cy="3127376"/>
              </a:xfrm>
              <a:blipFill>
                <a:blip r:embed="rId2"/>
                <a:stretch>
                  <a:fillRect l="-928" t="-4288" r="-580"/>
                </a:stretch>
              </a:blipFill>
            </p:spPr>
            <p:txBody>
              <a:bodyPr/>
              <a:lstStyle/>
              <a:p>
                <a:r>
                  <a:rPr lang="sk-SK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Zástupný objekt pre obsah 4">
            <a:extLst>
              <a:ext uri="{FF2B5EF4-FFF2-40B4-BE49-F238E27FC236}">
                <a16:creationId xmlns:a16="http://schemas.microsoft.com/office/drawing/2014/main" id="{0A3BEBCD-8C36-75C6-8FF1-19459D54F9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27172" t="4572" r="24879" b="7090"/>
          <a:stretch>
            <a:fillRect/>
          </a:stretch>
        </p:blipFill>
        <p:spPr>
          <a:xfrm>
            <a:off x="2641601" y="304897"/>
            <a:ext cx="6908804" cy="6248195"/>
          </a:xfrm>
        </p:spPr>
      </p:pic>
    </p:spTree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99FF0FF-300E-DEDA-6DD9-B3B4B44DC1B3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sk-SK"/>
              <a:t>Výpočet gradientov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Zástupný objekt pre obsah 2">
                <a:extLst>
                  <a:ext uri="{FF2B5EF4-FFF2-40B4-BE49-F238E27FC236}">
                    <a16:creationId xmlns:a16="http://schemas.microsoft.com/office/drawing/2014/main" id="{15452BAC-AA66-B16C-8E66-3F886AC30F04}"/>
                  </a:ext>
                </a:extLst>
              </p:cNvPr>
              <p:cNvSpPr txBox="1"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>
                  <a:lnSpc>
                    <a:spcPct val="84000"/>
                  </a:lnSpc>
                </a:pPr>
                <a:r>
                  <a:rPr lang="sk-SK" sz="1900" dirty="0"/>
                  <a:t>Identifikácia smeru a sily zmien intenzity jasu</a:t>
                </a:r>
              </a:p>
              <a:p>
                <a:pPr lvl="0">
                  <a:lnSpc>
                    <a:spcPct val="84000"/>
                  </a:lnSpc>
                </a:pPr>
                <a:r>
                  <a:rPr lang="sk-SK" sz="1900" dirty="0"/>
                  <a:t>Používame matice pre horizontálny a vertikálny smer:</a:t>
                </a:r>
              </a:p>
              <a:p>
                <a:pPr lvl="0">
                  <a:lnSpc>
                    <a:spcPct val="84000"/>
                  </a:lnSpc>
                </a:pPr>
                <a:endParaRPr lang="sk-SK" sz="1900" dirty="0"/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sk-SK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k-SK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sk-SK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sk-SK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sk-SK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sk-SK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sk-SK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sk-SK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sk-SK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sk-SK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  <m:e>
                                <m:r>
                                  <a:rPr lang="sk-SK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sk-SK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sk-SK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sk-SK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sk-SK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sk-SK">
                          <a:latin typeface="Cambria Math" panose="02040503050406030204" pitchFamily="18" charset="0"/>
                        </a:rPr>
                        <m:t>                                   </m:t>
                      </m:r>
                      <m:sSub>
                        <m:sSubPr>
                          <m:ctrlPr>
                            <a:rPr lang="sk-SK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k-SK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sk-SK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sk-SK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sk-SK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sk-SK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sk-SK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sk-SK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  <m:e>
                                <m:r>
                                  <a:rPr lang="sk-SK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  <m:mr>
                              <m:e>
                                <m:r>
                                  <a:rPr lang="sk-SK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sk-SK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sk-SK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sk-SK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sk-SK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sk-SK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sk-SK" sz="1900" dirty="0"/>
              </a:p>
              <a:p>
                <a:pPr marL="0" lvl="0" indent="0">
                  <a:lnSpc>
                    <a:spcPct val="84000"/>
                  </a:lnSpc>
                  <a:buNone/>
                </a:pPr>
                <a:endParaRPr lang="sk-SK" sz="1900" dirty="0"/>
              </a:p>
              <a:p>
                <a:pPr lvl="0">
                  <a:lnSpc>
                    <a:spcPct val="84000"/>
                  </a:lnSpc>
                </a:pPr>
                <a:r>
                  <a:rPr lang="sk-SK" sz="1900" dirty="0"/>
                  <a:t>Výpočet parciálnych derivácií:</a:t>
                </a:r>
              </a:p>
              <a:p>
                <a:pPr lvl="0">
                  <a:lnSpc>
                    <a:spcPct val="84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sk-SK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k-SK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sk-SK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sk-SK">
                        <a:latin typeface="Cambria Math" panose="02040503050406030204" pitchFamily="18" charset="0"/>
                      </a:rPr>
                      <m:t>=</m:t>
                    </m:r>
                    <m:r>
                      <a:rPr lang="sk-SK" i="1">
                        <a:latin typeface="Cambria Math" panose="02040503050406030204" pitchFamily="18" charset="0"/>
                      </a:rPr>
                      <m:t>𝐼</m:t>
                    </m:r>
                    <m:r>
                      <a:rPr lang="sk-SK">
                        <a:latin typeface="Cambria Math" panose="02040503050406030204" pitchFamily="18" charset="0"/>
                      </a:rPr>
                      <m:t>∗</m:t>
                    </m:r>
                    <m:sSub>
                      <m:sSubPr>
                        <m:ctrlPr>
                          <a:rPr lang="sk-SK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k-SK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sk-SK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sk-SK" sz="1900" dirty="0"/>
                  <a:t> </a:t>
                </a:r>
              </a:p>
              <a:p>
                <a:pPr lvl="0">
                  <a:lnSpc>
                    <a:spcPct val="84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sk-SK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k-SK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sk-SK" i="1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sk-SK">
                        <a:latin typeface="Cambria Math" panose="02040503050406030204" pitchFamily="18" charset="0"/>
                      </a:rPr>
                      <m:t>=</m:t>
                    </m:r>
                    <m:r>
                      <a:rPr lang="sk-SK" i="1">
                        <a:latin typeface="Cambria Math" panose="02040503050406030204" pitchFamily="18" charset="0"/>
                      </a:rPr>
                      <m:t>𝐼</m:t>
                    </m:r>
                    <m:r>
                      <a:rPr lang="sk-SK">
                        <a:latin typeface="Cambria Math" panose="02040503050406030204" pitchFamily="18" charset="0"/>
                      </a:rPr>
                      <m:t>∗</m:t>
                    </m:r>
                    <m:sSub>
                      <m:sSubPr>
                        <m:ctrlPr>
                          <a:rPr lang="sk-SK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k-SK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sk-SK" i="1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endParaRPr lang="sk-SK" sz="1900" dirty="0"/>
              </a:p>
            </p:txBody>
          </p:sp>
        </mc:Choice>
        <mc:Fallback>
          <p:sp>
            <p:nvSpPr>
              <p:cNvPr id="3" name="Zástupný objekt pre obsah 2">
                <a:extLst>
                  <a:ext uri="{FF2B5EF4-FFF2-40B4-BE49-F238E27FC236}">
                    <a16:creationId xmlns:a16="http://schemas.microsoft.com/office/drawing/2014/main" id="{15452BAC-AA66-B16C-8E66-3F886AC30F04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71" t="-2211" b="-680"/>
                </a:stretch>
              </a:blipFill>
            </p:spPr>
            <p:txBody>
              <a:bodyPr/>
              <a:lstStyle/>
              <a:p>
                <a:r>
                  <a:rPr lang="sk-SK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3362B31-B842-8A74-626B-BE0A922DB78F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sk-SK"/>
              <a:t>Veľkosť a Smer gradientu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Zástupný objekt pre obsah 2">
                <a:extLst>
                  <a:ext uri="{FF2B5EF4-FFF2-40B4-BE49-F238E27FC236}">
                    <a16:creationId xmlns:a16="http://schemas.microsoft.com/office/drawing/2014/main" id="{3BE3B005-9DAC-45DD-B053-111B7FCAAB58}"/>
                  </a:ext>
                </a:extLst>
              </p:cNvPr>
              <p:cNvSpPr txBox="1">
                <a:spLocks noGrp="1"/>
              </p:cNvSpPr>
              <p:nvPr>
                <p:ph idx="1"/>
              </p:nvPr>
            </p:nvSpPr>
            <p:spPr>
              <a:xfrm>
                <a:off x="1371600" y="1676396"/>
                <a:ext cx="9601200" cy="4495804"/>
              </a:xfrm>
            </p:spPr>
            <p:txBody>
              <a:bodyPr>
                <a:normAutofit/>
              </a:bodyPr>
              <a:lstStyle/>
              <a:p>
                <a:pPr lvl="0">
                  <a:lnSpc>
                    <a:spcPct val="100000"/>
                  </a:lnSpc>
                </a:pPr>
                <a:r>
                  <a:rPr lang="sk-SK" dirty="0"/>
                  <a:t>Spojiť informácie z oboch do jedného výsledku</a:t>
                </a:r>
              </a:p>
              <a:p>
                <a:pPr lvl="0">
                  <a:lnSpc>
                    <a:spcPct val="100000"/>
                  </a:lnSpc>
                </a:pPr>
                <a:r>
                  <a:rPr lang="sk-SK" dirty="0"/>
                  <a:t>Celková veľkosť: Vypočítaná v kóde ako euklidovská vzdialenosť:</a:t>
                </a:r>
              </a:p>
              <a:p>
                <a:pPr lvl="0">
                  <a:lnSpc>
                    <a:spcPct val="100000"/>
                  </a:lnSpc>
                </a:pPr>
                <a:endParaRPr lang="sk-SK" dirty="0"/>
              </a:p>
              <a:p>
                <a:pPr marL="0" lv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sk-SK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k-SK" i="1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sk-SK" i="1">
                              <a:latin typeface="Cambria Math" panose="02040503050406030204" pitchFamily="18" charset="0"/>
                            </a:rPr>
                            <m:t>𝑚𝑎𝑔</m:t>
                          </m:r>
                        </m:sub>
                      </m:sSub>
                      <m:r>
                        <a:rPr lang="sk-SK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sk-SK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bSup>
                            <m:sSubSupPr>
                              <m:ctrlPr>
                                <a:rPr lang="sk-SK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sk-SK" i="1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sk-SK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  <m:sup>
                              <m:r>
                                <a:rPr lang="sk-SK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sk-SK"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sk-SK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sk-SK" i="1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sk-SK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  <m:sup>
                              <m:r>
                                <a:rPr lang="sk-SK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rad>
                    </m:oMath>
                  </m:oMathPara>
                </a14:m>
                <a:endParaRPr lang="sk-SK" dirty="0"/>
              </a:p>
              <a:p>
                <a:pPr lvl="0">
                  <a:lnSpc>
                    <a:spcPct val="100000"/>
                  </a:lnSpc>
                </a:pPr>
                <a:r>
                  <a:rPr lang="sk-SK" dirty="0"/>
                  <a:t>Smer hrany: Určuje, ktorým smerom sa jas mení najprudšie:</a:t>
                </a:r>
              </a:p>
              <a:p>
                <a:pPr lvl="0">
                  <a:lnSpc>
                    <a:spcPct val="100000"/>
                  </a:lnSpc>
                </a:pPr>
                <a:endParaRPr lang="sk-SK" dirty="0"/>
              </a:p>
              <a:p>
                <a:pPr marL="0" lv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sk-SK" i="1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sk-SK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sk-SK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sk-SK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sk-SK">
                                  <a:latin typeface="Cambria Math" panose="02040503050406030204" pitchFamily="18" charset="0"/>
                                </a:rPr>
                                <m:t>tan</m:t>
                              </m:r>
                            </m:e>
                            <m:sup>
                              <m:r>
                                <a:rPr lang="sk-SK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fName>
                        <m:e>
                          <m:d>
                            <m:dPr>
                              <m:ctrlPr>
                                <a:rPr lang="sk-SK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sk-SK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sk-SK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sk-SK" i="1">
                                          <a:latin typeface="Cambria Math" panose="02040503050406030204" pitchFamily="18" charset="0"/>
                                        </a:rPr>
                                        <m:t>𝐺</m:t>
                                      </m:r>
                                    </m:e>
                                    <m:sub>
                                      <m:r>
                                        <a:rPr lang="sk-SK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sk-SK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sk-SK" i="1">
                                          <a:latin typeface="Cambria Math" panose="02040503050406030204" pitchFamily="18" charset="0"/>
                                        </a:rPr>
                                        <m:t>𝐺</m:t>
                                      </m:r>
                                    </m:e>
                                    <m:sub>
                                      <m:r>
                                        <a:rPr lang="sk-SK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sk-SK" dirty="0"/>
              </a:p>
              <a:p>
                <a:pPr lvl="0">
                  <a:lnSpc>
                    <a:spcPct val="100000"/>
                  </a:lnSpc>
                </a:pPr>
                <a:r>
                  <a:rPr lang="sk-SK" dirty="0"/>
                  <a:t>Smer hrany je kľúčový pre </a:t>
                </a:r>
                <a:r>
                  <a:rPr lang="sk-SK" dirty="0" err="1"/>
                  <a:t>Non</a:t>
                </a:r>
                <a:r>
                  <a:rPr lang="sk-SK" dirty="0"/>
                  <a:t>-maximum </a:t>
                </a:r>
                <a:r>
                  <a:rPr lang="sk-SK" dirty="0" err="1"/>
                  <a:t>suppression</a:t>
                </a:r>
                <a:r>
                  <a:rPr lang="sk-SK" dirty="0"/>
                  <a:t>, kde sa hrany stenčujú práve v smere </a:t>
                </a:r>
                <a14:m>
                  <m:oMath xmlns:m="http://schemas.openxmlformats.org/officeDocument/2006/math">
                    <m:r>
                      <a:rPr lang="sk-SK" i="1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endParaRPr lang="sk-SK" dirty="0"/>
              </a:p>
              <a:p>
                <a:pPr marL="0" lvl="0" indent="0">
                  <a:lnSpc>
                    <a:spcPct val="64000"/>
                  </a:lnSpc>
                  <a:buNone/>
                </a:pPr>
                <a:endParaRPr lang="sk-SK" dirty="0"/>
              </a:p>
            </p:txBody>
          </p:sp>
        </mc:Choice>
        <mc:Fallback>
          <p:sp>
            <p:nvSpPr>
              <p:cNvPr id="3" name="Zástupný objekt pre obsah 2">
                <a:extLst>
                  <a:ext uri="{FF2B5EF4-FFF2-40B4-BE49-F238E27FC236}">
                    <a16:creationId xmlns:a16="http://schemas.microsoft.com/office/drawing/2014/main" id="{3BE3B005-9DAC-45DD-B053-111B7FCAAB58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71600" y="1676396"/>
                <a:ext cx="9601200" cy="4495804"/>
              </a:xfrm>
              <a:blipFill>
                <a:blip r:embed="rId2"/>
                <a:stretch>
                  <a:fillRect l="-571" t="-678"/>
                </a:stretch>
              </a:blipFill>
            </p:spPr>
            <p:txBody>
              <a:bodyPr/>
              <a:lstStyle/>
              <a:p>
                <a:r>
                  <a:rPr lang="sk-SK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Zástupný objekt pre obsah 4">
            <a:extLst>
              <a:ext uri="{FF2B5EF4-FFF2-40B4-BE49-F238E27FC236}">
                <a16:creationId xmlns:a16="http://schemas.microsoft.com/office/drawing/2014/main" id="{E65E3BE6-E57C-B67B-6742-2997E0DA21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27554" t="3964" r="25166" b="9254"/>
          <a:stretch>
            <a:fillRect/>
          </a:stretch>
        </p:blipFill>
        <p:spPr>
          <a:xfrm>
            <a:off x="2626778" y="303196"/>
            <a:ext cx="6938430" cy="6251597"/>
          </a:xfrm>
        </p:spPr>
      </p:pic>
    </p:spTree>
  </p:cSld>
  <p:clrMapOvr>
    <a:masterClrMapping/>
  </p:clrMapOvr>
  <p:transition spd="med">
    <p:pull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F71B09D-234E-B493-DA6E-984415706FE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71600" y="990597"/>
            <a:ext cx="9601200" cy="1036323"/>
          </a:xfrm>
        </p:spPr>
        <p:txBody>
          <a:bodyPr/>
          <a:lstStyle/>
          <a:p>
            <a:pPr lvl="0"/>
            <a:r>
              <a:rPr lang="sk-SK" dirty="0" err="1"/>
              <a:t>Non</a:t>
            </a:r>
            <a:r>
              <a:rPr lang="sk-SK" dirty="0"/>
              <a:t>-Maximum </a:t>
            </a:r>
            <a:r>
              <a:rPr lang="sk-SK" dirty="0" err="1"/>
              <a:t>Suppresion</a:t>
            </a:r>
            <a:endParaRPr lang="sk-SK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83EE5136-C89C-90C7-EC17-7E2ECF83F450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lnSpc>
                <a:spcPct val="150000"/>
              </a:lnSpc>
            </a:pPr>
            <a:r>
              <a:rPr lang="sk-SK" dirty="0" err="1"/>
              <a:t>Stenšenie</a:t>
            </a:r>
            <a:r>
              <a:rPr lang="sk-SK" dirty="0"/>
              <a:t> rozmazaných hrán na šírku 1 pixelu</a:t>
            </a:r>
          </a:p>
          <a:p>
            <a:pPr lvl="0">
              <a:lnSpc>
                <a:spcPct val="150000"/>
              </a:lnSpc>
            </a:pPr>
            <a:r>
              <a:rPr lang="sk-SK" dirty="0"/>
              <a:t>Pre každý pixel sa kontroluje, či je jeho </a:t>
            </a:r>
            <a:r>
              <a:rPr lang="sk-SK" dirty="0" err="1"/>
              <a:t>magnitúda</a:t>
            </a:r>
            <a:r>
              <a:rPr lang="sk-SK" dirty="0"/>
              <a:t> najväčšia v smere jeho gradientu</a:t>
            </a:r>
          </a:p>
          <a:p>
            <a:pPr lvl="0">
              <a:lnSpc>
                <a:spcPct val="150000"/>
              </a:lnSpc>
            </a:pPr>
            <a:r>
              <a:rPr lang="sk-SK" dirty="0"/>
              <a:t>Kategorizácia smerov, uhly sme rozdelili do 4 sektorov:</a:t>
            </a:r>
          </a:p>
          <a:p>
            <a:pPr lvl="1">
              <a:lnSpc>
                <a:spcPct val="150000"/>
              </a:lnSpc>
            </a:pPr>
            <a:r>
              <a:rPr lang="sk-SK" dirty="0"/>
              <a:t>0°, 45°, 90° a 135°</a:t>
            </a:r>
          </a:p>
          <a:p>
            <a:pPr lvl="0">
              <a:lnSpc>
                <a:spcPct val="150000"/>
              </a:lnSpc>
            </a:pPr>
            <a:r>
              <a:rPr lang="sk-SK" dirty="0"/>
              <a:t>Ak pixel nie je lokálnym maximom, jeho hodnota sa nastaví na 0</a:t>
            </a:r>
          </a:p>
        </p:txBody>
      </p:sp>
    </p:spTree>
  </p:cSld>
  <p:clrMapOvr>
    <a:masterClrMapping/>
  </p:clrMapOvr>
  <p:transition spd="med">
    <p:pull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Zástupný objekt pre obsah 4">
            <a:extLst>
              <a:ext uri="{FF2B5EF4-FFF2-40B4-BE49-F238E27FC236}">
                <a16:creationId xmlns:a16="http://schemas.microsoft.com/office/drawing/2014/main" id="{46523533-DD06-2ED4-F061-2A88A5A459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27650" t="5910" r="25262" b="6530"/>
          <a:stretch>
            <a:fillRect/>
          </a:stretch>
        </p:blipFill>
        <p:spPr>
          <a:xfrm>
            <a:off x="2696629" y="326129"/>
            <a:ext cx="6798728" cy="6205740"/>
          </a:xfrm>
        </p:spPr>
      </p:pic>
    </p:spTree>
  </p:cSld>
  <p:clrMapOvr>
    <a:masterClrMapping/>
  </p:clrMapOvr>
  <p:transition spd="med">
    <p:pull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D82D295-5316-3861-3543-462EA5B9362C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sk-SK" dirty="0"/>
              <a:t>Dvojité </a:t>
            </a:r>
            <a:r>
              <a:rPr lang="sk-SK" dirty="0" err="1"/>
              <a:t>prahovanie</a:t>
            </a:r>
            <a:r>
              <a:rPr lang="sk-SK" dirty="0"/>
              <a:t> = </a:t>
            </a:r>
            <a:br>
              <a:rPr lang="sk-SK" dirty="0"/>
            </a:br>
            <a:r>
              <a:rPr lang="sk-SK" dirty="0"/>
              <a:t>                            DOUBLE THRESHOLD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3E152C30-B4C9-6FB8-D89D-A548CC0AB652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lnSpc>
                <a:spcPct val="150000"/>
              </a:lnSpc>
            </a:pPr>
            <a:r>
              <a:rPr lang="sk-SK" dirty="0"/>
              <a:t>Rozdelenie pixelov do troch kategórií podľa ich intenzity</a:t>
            </a:r>
          </a:p>
          <a:p>
            <a:pPr lvl="0">
              <a:lnSpc>
                <a:spcPct val="150000"/>
              </a:lnSpc>
            </a:pPr>
            <a:r>
              <a:rPr lang="sk-SK" dirty="0"/>
              <a:t>Silné pixely: Hodnota ≥ </a:t>
            </a:r>
            <a:r>
              <a:rPr lang="sk-SK" dirty="0" err="1"/>
              <a:t>High</a:t>
            </a:r>
            <a:r>
              <a:rPr lang="sk-SK" dirty="0"/>
              <a:t> </a:t>
            </a:r>
            <a:r>
              <a:rPr lang="sk-SK" dirty="0" err="1"/>
              <a:t>Treshold</a:t>
            </a:r>
            <a:r>
              <a:rPr lang="sk-SK" dirty="0"/>
              <a:t> (255) – Isté hrany</a:t>
            </a:r>
          </a:p>
          <a:p>
            <a:pPr lvl="0">
              <a:lnSpc>
                <a:spcPct val="150000"/>
              </a:lnSpc>
            </a:pPr>
            <a:r>
              <a:rPr lang="sk-SK" dirty="0"/>
              <a:t>Slabé pixely: </a:t>
            </a:r>
            <a:r>
              <a:rPr lang="sk-SK" dirty="0" err="1"/>
              <a:t>Low</a:t>
            </a:r>
            <a:r>
              <a:rPr lang="sk-SK" dirty="0"/>
              <a:t> (75) ≤ Hodnota ≥ </a:t>
            </a:r>
            <a:r>
              <a:rPr lang="sk-SK" dirty="0" err="1"/>
              <a:t>High</a:t>
            </a:r>
            <a:r>
              <a:rPr lang="en-US" dirty="0"/>
              <a:t> (255)</a:t>
            </a:r>
            <a:r>
              <a:rPr lang="sk-SK" dirty="0"/>
              <a:t> – Potenciálne hrany</a:t>
            </a:r>
          </a:p>
          <a:p>
            <a:pPr lvl="0">
              <a:lnSpc>
                <a:spcPct val="150000"/>
              </a:lnSpc>
            </a:pPr>
            <a:r>
              <a:rPr lang="sk-SK" dirty="0"/>
              <a:t>Irelevantné pixely: Hodnota ≤ </a:t>
            </a:r>
            <a:r>
              <a:rPr lang="sk-SK" dirty="0" err="1"/>
              <a:t>Low</a:t>
            </a:r>
            <a:r>
              <a:rPr lang="sk-SK" dirty="0"/>
              <a:t> </a:t>
            </a:r>
            <a:r>
              <a:rPr lang="sk-SK" dirty="0" err="1"/>
              <a:t>Treshold</a:t>
            </a:r>
            <a:r>
              <a:rPr lang="sk-SK" dirty="0"/>
              <a:t> (75) – Nastavené na 0</a:t>
            </a:r>
          </a:p>
          <a:p>
            <a:pPr lvl="0">
              <a:lnSpc>
                <a:spcPct val="150000"/>
              </a:lnSpc>
            </a:pPr>
            <a:r>
              <a:rPr lang="sk-SK" dirty="0"/>
              <a:t>Tento krok odfiltruje slabý šum, ale ponechá slabé pixely</a:t>
            </a:r>
          </a:p>
        </p:txBody>
      </p:sp>
    </p:spTree>
  </p:cSld>
  <p:clrMapOvr>
    <a:masterClrMapping/>
  </p:clrMapOvr>
  <p:transition spd="med">
    <p:pull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Zástupný objekt pre obsah 4">
            <a:extLst>
              <a:ext uri="{FF2B5EF4-FFF2-40B4-BE49-F238E27FC236}">
                <a16:creationId xmlns:a16="http://schemas.microsoft.com/office/drawing/2014/main" id="{9B23C547-9468-2EF8-0C45-DB86FEC5AA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28127" t="7272" r="25071" b="7893"/>
          <a:stretch>
            <a:fillRect/>
          </a:stretch>
        </p:blipFill>
        <p:spPr>
          <a:xfrm>
            <a:off x="2832097" y="524792"/>
            <a:ext cx="6527801" cy="5808405"/>
          </a:xfrm>
        </p:spPr>
      </p:pic>
    </p:spTree>
  </p:cSld>
  <p:clrMapOvr>
    <a:masterClrMapping/>
  </p:clrMapOvr>
  <p:transition spd="med">
    <p:pull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8C4BAC7-21CE-8462-62D3-DE26D923D36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71600" y="990597"/>
            <a:ext cx="9601200" cy="838200"/>
          </a:xfrm>
        </p:spPr>
        <p:txBody>
          <a:bodyPr/>
          <a:lstStyle/>
          <a:p>
            <a:pPr lvl="0"/>
            <a:r>
              <a:rPr lang="sk-SK" dirty="0" err="1"/>
              <a:t>Hysterézia</a:t>
            </a:r>
            <a:endParaRPr lang="sk-SK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DD51BB5D-DA06-A715-9632-F251DF483219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lnSpc>
                <a:spcPct val="150000"/>
              </a:lnSpc>
            </a:pPr>
            <a:r>
              <a:rPr lang="sk-SK" sz="2400" dirty="0"/>
              <a:t>Rozhodnutie o slabých pixelov</a:t>
            </a:r>
          </a:p>
          <a:p>
            <a:pPr lvl="0">
              <a:lnSpc>
                <a:spcPct val="150000"/>
              </a:lnSpc>
            </a:pPr>
            <a:r>
              <a:rPr lang="sk-SK" sz="2400" dirty="0"/>
              <a:t>Algoritmus kontroly okolia:</a:t>
            </a:r>
          </a:p>
          <a:p>
            <a:pPr lvl="1">
              <a:lnSpc>
                <a:spcPct val="150000"/>
              </a:lnSpc>
            </a:pPr>
            <a:r>
              <a:rPr lang="sk-SK" sz="2400" dirty="0"/>
              <a:t>Prechádzame všetkých 8 susedov slabého pixelu -&gt; 3 x 3</a:t>
            </a:r>
          </a:p>
          <a:p>
            <a:pPr lvl="0">
              <a:lnSpc>
                <a:spcPct val="150000"/>
              </a:lnSpc>
            </a:pPr>
            <a:r>
              <a:rPr lang="sk-SK" sz="2400" dirty="0"/>
              <a:t>Slabý pixel bude ponechaný a stane sa silným (255), ak je prepojený s aspoň jedným silným pixelom</a:t>
            </a:r>
          </a:p>
        </p:txBody>
      </p:sp>
    </p:spTree>
  </p:cSld>
  <p:clrMapOvr>
    <a:masterClrMapping/>
  </p:clrMapOvr>
  <p:transition spd="med">
    <p:pull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Zástupný objekt pre obsah 4">
            <a:extLst>
              <a:ext uri="{FF2B5EF4-FFF2-40B4-BE49-F238E27FC236}">
                <a16:creationId xmlns:a16="http://schemas.microsoft.com/office/drawing/2014/main" id="{6647885F-29B0-7670-12FA-AD756247EE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28981" t="8235" r="26260" b="10825"/>
          <a:stretch>
            <a:fillRect/>
          </a:stretch>
        </p:blipFill>
        <p:spPr>
          <a:xfrm>
            <a:off x="1007540" y="199832"/>
            <a:ext cx="3508104" cy="3114117"/>
          </a:xfrm>
        </p:spPr>
      </p:pic>
      <p:pic>
        <p:nvPicPr>
          <p:cNvPr id="3" name="Zástupný objekt pre obsah 4">
            <a:extLst>
              <a:ext uri="{FF2B5EF4-FFF2-40B4-BE49-F238E27FC236}">
                <a16:creationId xmlns:a16="http://schemas.microsoft.com/office/drawing/2014/main" id="{298F4CD4-B87A-85ED-10F7-BF79455634D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8693" t="8363" r="26261" b="10823"/>
          <a:stretch>
            <a:fillRect/>
          </a:stretch>
        </p:blipFill>
        <p:spPr>
          <a:xfrm>
            <a:off x="4751752" y="199832"/>
            <a:ext cx="3471172" cy="312206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4" name="Zástupný objekt pre obsah 4">
            <a:extLst>
              <a:ext uri="{FF2B5EF4-FFF2-40B4-BE49-F238E27FC236}">
                <a16:creationId xmlns:a16="http://schemas.microsoft.com/office/drawing/2014/main" id="{CEEBC654-D1C3-31FA-C22C-F148442D8E5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8503" t="8517" r="26049" b="10676"/>
          <a:stretch>
            <a:fillRect/>
          </a:stretch>
        </p:blipFill>
        <p:spPr>
          <a:xfrm>
            <a:off x="8445151" y="199832"/>
            <a:ext cx="3583561" cy="3127568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5" name="Zástupný objekt pre obsah 4">
            <a:extLst>
              <a:ext uri="{FF2B5EF4-FFF2-40B4-BE49-F238E27FC236}">
                <a16:creationId xmlns:a16="http://schemas.microsoft.com/office/drawing/2014/main" id="{FBA685F4-BC39-355A-8C03-E604E23E022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8996" t="7272" r="26138" b="11044"/>
          <a:stretch>
            <a:fillRect/>
          </a:stretch>
        </p:blipFill>
        <p:spPr>
          <a:xfrm>
            <a:off x="2667021" y="3346768"/>
            <a:ext cx="3705295" cy="3311399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6" name="Zástupný objekt pre obsah 4">
            <a:extLst>
              <a:ext uri="{FF2B5EF4-FFF2-40B4-BE49-F238E27FC236}">
                <a16:creationId xmlns:a16="http://schemas.microsoft.com/office/drawing/2014/main" id="{CEF63BC3-10E3-E146-C77B-693211052D3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8520" t="7127" r="26402" b="11062"/>
          <a:stretch>
            <a:fillRect/>
          </a:stretch>
        </p:blipFill>
        <p:spPr>
          <a:xfrm>
            <a:off x="6656676" y="3330363"/>
            <a:ext cx="3485052" cy="3311399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  <p:transition spd="med">
    <p:pull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Zástupný objekt pre obsah 4">
            <a:extLst>
              <a:ext uri="{FF2B5EF4-FFF2-40B4-BE49-F238E27FC236}">
                <a16:creationId xmlns:a16="http://schemas.microsoft.com/office/drawing/2014/main" id="{D7844F8C-016E-17E2-D7C7-F52ACDA58D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28600" t="7127" r="25977" b="8785"/>
          <a:stretch>
            <a:fillRect/>
          </a:stretch>
        </p:blipFill>
        <p:spPr>
          <a:xfrm>
            <a:off x="6210175" y="643463"/>
            <a:ext cx="5625736" cy="5452530"/>
          </a:xfrm>
        </p:spPr>
      </p:pic>
      <p:pic>
        <p:nvPicPr>
          <p:cNvPr id="3" name="Obrázok 6">
            <a:extLst>
              <a:ext uri="{FF2B5EF4-FFF2-40B4-BE49-F238E27FC236}">
                <a16:creationId xmlns:a16="http://schemas.microsoft.com/office/drawing/2014/main" id="{B54FEA65-E898-9851-2C7D-E4961657CBA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2350" t="7707" r="29801" b="5661"/>
          <a:stretch>
            <a:fillRect/>
          </a:stretch>
        </p:blipFill>
        <p:spPr>
          <a:xfrm>
            <a:off x="1086636" y="643463"/>
            <a:ext cx="5016133" cy="5635977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  <p:transition spd="med">
    <p:pull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Zástupný objekt pre obsah 8">
            <a:extLst>
              <a:ext uri="{FF2B5EF4-FFF2-40B4-BE49-F238E27FC236}">
                <a16:creationId xmlns:a16="http://schemas.microsoft.com/office/drawing/2014/main" id="{AF5DBFAC-14CF-F9E1-7A5F-3676792D1A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785" y="1071228"/>
            <a:ext cx="10818421" cy="471554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07683397"/>
      </p:ext>
    </p:extLst>
  </p:cSld>
  <p:clrMapOvr>
    <a:masterClrMapping/>
  </p:clrMapOvr>
  <p:transition spd="med">
    <p:pull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FE7D046-3C1D-B569-B455-3D3D9F376E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15386" y="2401529"/>
            <a:ext cx="8361227" cy="2054942"/>
          </a:xfrm>
        </p:spPr>
        <p:txBody>
          <a:bodyPr/>
          <a:lstStyle/>
          <a:p>
            <a:r>
              <a:rPr lang="sk-SK" dirty="0"/>
              <a:t>Ďakujeme za pozornosť</a:t>
            </a:r>
          </a:p>
        </p:txBody>
      </p:sp>
    </p:spTree>
    <p:extLst>
      <p:ext uri="{BB962C8B-B14F-4D97-AF65-F5344CB8AC3E}">
        <p14:creationId xmlns:p14="http://schemas.microsoft.com/office/powerpoint/2010/main" val="667070968"/>
      </p:ext>
    </p:extLst>
  </p:cSld>
  <p:clrMapOvr>
    <a:masterClrMapping/>
  </p:clrMapOvr>
  <p:transition spd="med">
    <p:pull/>
  </p:transition>
</p:sld>
</file>

<file path=ppt/theme/theme1.xml><?xml version="1.0" encoding="utf-8"?>
<a:theme xmlns:a="http://schemas.openxmlformats.org/drawingml/2006/main" name="Orezani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TM10001105%5b%5bfn=Orezanie%5d%5d</Template>
  <TotalTime>505</TotalTime>
  <Words>292</Words>
  <Application>Microsoft Office PowerPoint</Application>
  <PresentationFormat>Širokouhlá</PresentationFormat>
  <Paragraphs>46</Paragraphs>
  <Slides>16</Slides>
  <Notes>0</Notes>
  <HiddenSlides>0</HiddenSlides>
  <MMClips>0</MMClips>
  <ScaleCrop>false</ScaleCrop>
  <HeadingPairs>
    <vt:vector size="6" baseType="variant">
      <vt:variant>
        <vt:lpstr>Použité písma</vt:lpstr>
      </vt:variant>
      <vt:variant>
        <vt:i4>4</vt:i4>
      </vt:variant>
      <vt:variant>
        <vt:lpstr>Motív</vt:lpstr>
      </vt:variant>
      <vt:variant>
        <vt:i4>1</vt:i4>
      </vt:variant>
      <vt:variant>
        <vt:lpstr>Nadpisy snímok</vt:lpstr>
      </vt:variant>
      <vt:variant>
        <vt:i4>16</vt:i4>
      </vt:variant>
    </vt:vector>
  </HeadingPairs>
  <TitlesOfParts>
    <vt:vector size="21" baseType="lpstr">
      <vt:lpstr>Aptos</vt:lpstr>
      <vt:lpstr>Arial</vt:lpstr>
      <vt:lpstr>Cambria Math</vt:lpstr>
      <vt:lpstr>Franklin Gothic Book</vt:lpstr>
      <vt:lpstr>Orezanie</vt:lpstr>
      <vt:lpstr>Canny detector hrán</vt:lpstr>
      <vt:lpstr>Prezentácia programu PowerPoint</vt:lpstr>
      <vt:lpstr>Gaussovo filtrovanie</vt:lpstr>
      <vt:lpstr>Prezentácia programu PowerPoint</vt:lpstr>
      <vt:lpstr>Výpočet gradientov</vt:lpstr>
      <vt:lpstr>Veľkosť a Smer gradientu</vt:lpstr>
      <vt:lpstr>Prezentácia programu PowerPoint</vt:lpstr>
      <vt:lpstr>Non-Maximum Suppresion</vt:lpstr>
      <vt:lpstr>Prezentácia programu PowerPoint</vt:lpstr>
      <vt:lpstr>Dvojité prahovanie =                              DOUBLE THRESHOLD</vt:lpstr>
      <vt:lpstr>Prezentácia programu PowerPoint</vt:lpstr>
      <vt:lpstr>Hysterézia</vt:lpstr>
      <vt:lpstr>Prezentácia programu PowerPoint</vt:lpstr>
      <vt:lpstr>Prezentácia programu PowerPoint</vt:lpstr>
      <vt:lpstr>Prezentácia programu PowerPoint</vt:lpstr>
      <vt:lpstr>Ďakujeme za pozornosť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Jakub Maslen</dc:creator>
  <cp:lastModifiedBy>Dominika Kormaníková</cp:lastModifiedBy>
  <cp:revision>9</cp:revision>
  <dcterms:created xsi:type="dcterms:W3CDTF">2026-03-27T18:23:51Z</dcterms:created>
  <dcterms:modified xsi:type="dcterms:W3CDTF">2026-04-07T11:16:41Z</dcterms:modified>
</cp:coreProperties>
</file>